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Raleway"/>
      <p:regular r:id="rId11"/>
      <p:bold r:id="rId12"/>
      <p:italic r:id="rId13"/>
      <p:boldItalic r:id="rId14"/>
    </p:embeddedFont>
    <p:embeddedFont>
      <p:font typeface="La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aleway-regular.fntdata"/><Relationship Id="rId10" Type="http://schemas.openxmlformats.org/officeDocument/2006/relationships/slide" Target="slides/slide5.xml"/><Relationship Id="rId13" Type="http://schemas.openxmlformats.org/officeDocument/2006/relationships/font" Target="fonts/Raleway-italic.fntdata"/><Relationship Id="rId12" Type="http://schemas.openxmlformats.org/officeDocument/2006/relationships/font" Target="fonts/Raleway-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Lato-regular.fntdata"/><Relationship Id="rId14" Type="http://schemas.openxmlformats.org/officeDocument/2006/relationships/font" Target="fonts/Raleway-boldItalic.fntdata"/><Relationship Id="rId17" Type="http://schemas.openxmlformats.org/officeDocument/2006/relationships/font" Target="fonts/Lato-italic.fntdata"/><Relationship Id="rId16"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8d4eaf61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8d4eaf61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8d4eaf612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8d4eaf612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8d4eaf612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8d4eaf612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8d4eaf612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8d4eaf612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311700" y="2105550"/>
            <a:ext cx="8520600" cy="93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ART: technical rules</a:t>
            </a:r>
            <a:endParaRPr/>
          </a:p>
        </p:txBody>
      </p:sp>
      <p:sp>
        <p:nvSpPr>
          <p:cNvPr id="87" name="Google Shape;87;p13"/>
          <p:cNvSpPr txBox="1"/>
          <p:nvPr>
            <p:ph idx="1" type="subTitle"/>
          </p:nvPr>
        </p:nvSpPr>
        <p:spPr>
          <a:xfrm>
            <a:off x="1583175" y="4627450"/>
            <a:ext cx="5868600" cy="45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Naming conventions</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2100">
                <a:highlight>
                  <a:srgbClr val="EA9999"/>
                </a:highlight>
              </a:rPr>
              <a:t>AssetType</a:t>
            </a:r>
            <a:r>
              <a:rPr b="1" lang="en" sz="2100"/>
              <a:t>_</a:t>
            </a:r>
            <a:r>
              <a:rPr b="1" lang="en" sz="2100">
                <a:solidFill>
                  <a:srgbClr val="595959"/>
                </a:solidFill>
                <a:highlight>
                  <a:srgbClr val="B6D7A8"/>
                </a:highlight>
              </a:rPr>
              <a:t>AssetName</a:t>
            </a:r>
            <a:r>
              <a:rPr b="1" lang="en" sz="2100"/>
              <a:t>_</a:t>
            </a:r>
            <a:r>
              <a:rPr b="1" lang="en" sz="2100">
                <a:highlight>
                  <a:srgbClr val="FFE599"/>
                </a:highlight>
              </a:rPr>
              <a:t>ForWhat</a:t>
            </a:r>
            <a:r>
              <a:rPr b="1" lang="en" sz="2100"/>
              <a:t>_</a:t>
            </a:r>
            <a:r>
              <a:rPr b="1" lang="en" sz="2100">
                <a:highlight>
                  <a:srgbClr val="A4C2F4"/>
                </a:highlight>
              </a:rPr>
              <a:t>VersionIteration</a:t>
            </a:r>
            <a:endParaRPr b="1" sz="2100">
              <a:highlight>
                <a:srgbClr val="A4C2F4"/>
              </a:highlight>
            </a:endParaRPr>
          </a:p>
          <a:p>
            <a:pPr indent="-311150" lvl="0" marL="914400" rtl="0" algn="l">
              <a:spcBef>
                <a:spcPts val="1200"/>
              </a:spcBef>
              <a:spcAft>
                <a:spcPts val="0"/>
              </a:spcAft>
              <a:buSzPts val="1300"/>
              <a:buChar char="●"/>
            </a:pPr>
            <a:r>
              <a:rPr b="1" lang="en">
                <a:highlight>
                  <a:srgbClr val="EA9999"/>
                </a:highlight>
              </a:rPr>
              <a:t>Asset type</a:t>
            </a:r>
            <a:r>
              <a:rPr b="1" lang="en"/>
              <a:t>:</a:t>
            </a:r>
            <a:r>
              <a:rPr lang="en"/>
              <a:t> refers to what it is, like a static mesh, an animation, a </a:t>
            </a:r>
            <a:r>
              <a:rPr lang="en"/>
              <a:t>skeleton</a:t>
            </a:r>
            <a:r>
              <a:rPr lang="en"/>
              <a:t>, a texture, etc.</a:t>
            </a:r>
            <a:endParaRPr/>
          </a:p>
          <a:p>
            <a:pPr indent="-311150" lvl="0" marL="914400" rtl="0" algn="l">
              <a:spcBef>
                <a:spcPts val="0"/>
              </a:spcBef>
              <a:spcAft>
                <a:spcPts val="0"/>
              </a:spcAft>
              <a:buSzPts val="1300"/>
              <a:buChar char="●"/>
            </a:pPr>
            <a:r>
              <a:rPr b="1" lang="en">
                <a:highlight>
                  <a:srgbClr val="B6D7A8"/>
                </a:highlight>
              </a:rPr>
              <a:t>AssetName</a:t>
            </a:r>
            <a:r>
              <a:rPr b="1" lang="en"/>
              <a:t>:</a:t>
            </a:r>
            <a:r>
              <a:rPr lang="en"/>
              <a:t> refers to what the object is, like the main character JohnSmith, or Tree1, or Walking, or Idle, etc.</a:t>
            </a:r>
            <a:endParaRPr/>
          </a:p>
          <a:p>
            <a:pPr indent="-311150" lvl="0" marL="914400" rtl="0" algn="l">
              <a:spcBef>
                <a:spcPts val="0"/>
              </a:spcBef>
              <a:spcAft>
                <a:spcPts val="0"/>
              </a:spcAft>
              <a:buSzPts val="1300"/>
              <a:buChar char="●"/>
            </a:pPr>
            <a:r>
              <a:rPr b="1" lang="en">
                <a:highlight>
                  <a:srgbClr val="FFE599"/>
                </a:highlight>
              </a:rPr>
              <a:t>ForWhat</a:t>
            </a:r>
            <a:r>
              <a:rPr b="1" lang="en"/>
              <a:t>:</a:t>
            </a:r>
            <a:r>
              <a:rPr lang="en"/>
              <a:t> More for </a:t>
            </a:r>
            <a:r>
              <a:rPr lang="en"/>
              <a:t>environment</a:t>
            </a:r>
            <a:r>
              <a:rPr lang="en"/>
              <a:t> assets, MainRoom, Outside, FinalBoss, but can also be included if it makes sense in context for other assets. If character has two forms, or different states, or what the texture map is for (base color, height, metallic etc.)</a:t>
            </a:r>
            <a:endParaRPr/>
          </a:p>
          <a:p>
            <a:pPr indent="-311150" lvl="0" marL="914400" rtl="0" algn="l">
              <a:spcBef>
                <a:spcPts val="0"/>
              </a:spcBef>
              <a:spcAft>
                <a:spcPts val="0"/>
              </a:spcAft>
              <a:buSzPts val="1300"/>
              <a:buChar char="●"/>
            </a:pPr>
            <a:r>
              <a:rPr b="1" lang="en">
                <a:highlight>
                  <a:srgbClr val="A4C2F4"/>
                </a:highlight>
              </a:rPr>
              <a:t>VersionIteration</a:t>
            </a:r>
            <a:r>
              <a:rPr b="1" lang="en"/>
              <a:t>:</a:t>
            </a:r>
            <a:r>
              <a:rPr lang="en"/>
              <a:t> a lot of assets go through </a:t>
            </a:r>
            <a:r>
              <a:rPr lang="en"/>
              <a:t>iterations</a:t>
            </a:r>
            <a:r>
              <a:rPr lang="en"/>
              <a:t> fast, this is a way to track it, V1-0 through V1-9. Vx-y convention to avoid iteration numbers like V527.</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Examples</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highlight>
                  <a:srgbClr val="EA9999"/>
                </a:highlight>
              </a:rPr>
              <a:t>SKM</a:t>
            </a:r>
            <a:r>
              <a:rPr lang="en"/>
              <a:t>_</a:t>
            </a:r>
            <a:r>
              <a:rPr lang="en">
                <a:highlight>
                  <a:srgbClr val="B6D7A8"/>
                </a:highlight>
              </a:rPr>
              <a:t>JaneTheKiller</a:t>
            </a:r>
            <a:r>
              <a:rPr lang="en"/>
              <a:t>_</a:t>
            </a:r>
            <a:r>
              <a:rPr lang="en">
                <a:solidFill>
                  <a:srgbClr val="595959"/>
                </a:solidFill>
                <a:highlight>
                  <a:srgbClr val="FFE599"/>
                </a:highlight>
              </a:rPr>
              <a:t>PlayerCharacter</a:t>
            </a:r>
            <a:r>
              <a:rPr lang="en"/>
              <a:t>_</a:t>
            </a:r>
            <a:r>
              <a:rPr lang="en">
                <a:highlight>
                  <a:srgbClr val="A4C2F4"/>
                </a:highlight>
              </a:rPr>
              <a:t>V2-9</a:t>
            </a:r>
            <a:r>
              <a:rPr lang="en"/>
              <a:t>.FBX</a:t>
            </a:r>
            <a:endParaRPr/>
          </a:p>
          <a:p>
            <a:pPr indent="0" lvl="0" marL="0" rtl="0" algn="l">
              <a:spcBef>
                <a:spcPts val="1200"/>
              </a:spcBef>
              <a:spcAft>
                <a:spcPts val="0"/>
              </a:spcAft>
              <a:buNone/>
            </a:pPr>
            <a:r>
              <a:rPr lang="en">
                <a:highlight>
                  <a:srgbClr val="EA9999"/>
                </a:highlight>
              </a:rPr>
              <a:t>TXTR</a:t>
            </a:r>
            <a:r>
              <a:rPr lang="en"/>
              <a:t>_</a:t>
            </a:r>
            <a:r>
              <a:rPr lang="en">
                <a:highlight>
                  <a:srgbClr val="B6D7A8"/>
                </a:highlight>
              </a:rPr>
              <a:t>BaseColor</a:t>
            </a:r>
            <a:r>
              <a:rPr lang="en"/>
              <a:t>_</a:t>
            </a:r>
            <a:r>
              <a:rPr lang="en">
                <a:highlight>
                  <a:srgbClr val="FFE599"/>
                </a:highlight>
              </a:rPr>
              <a:t>JaneTheKiller</a:t>
            </a:r>
            <a:r>
              <a:rPr lang="en"/>
              <a:t>_</a:t>
            </a:r>
            <a:r>
              <a:rPr lang="en">
                <a:highlight>
                  <a:srgbClr val="A4C2F4"/>
                </a:highlight>
              </a:rPr>
              <a:t>V1-0</a:t>
            </a:r>
            <a:r>
              <a:rPr lang="en"/>
              <a:t>.PNG</a:t>
            </a:r>
            <a:endParaRPr/>
          </a:p>
          <a:p>
            <a:pPr indent="0" lvl="0" marL="0" rtl="0" algn="l">
              <a:spcBef>
                <a:spcPts val="1200"/>
              </a:spcBef>
              <a:spcAft>
                <a:spcPts val="0"/>
              </a:spcAft>
              <a:buNone/>
            </a:pPr>
            <a:r>
              <a:rPr lang="en">
                <a:highlight>
                  <a:srgbClr val="EA9999"/>
                </a:highlight>
              </a:rPr>
              <a:t>ANIM</a:t>
            </a:r>
            <a:r>
              <a:rPr lang="en"/>
              <a:t>_</a:t>
            </a:r>
            <a:r>
              <a:rPr lang="en">
                <a:highlight>
                  <a:srgbClr val="B6D7A8"/>
                </a:highlight>
              </a:rPr>
              <a:t>Walking</a:t>
            </a:r>
            <a:r>
              <a:rPr lang="en"/>
              <a:t>_</a:t>
            </a:r>
            <a:r>
              <a:rPr lang="en">
                <a:highlight>
                  <a:srgbClr val="FFE599"/>
                </a:highlight>
              </a:rPr>
              <a:t>JaneTheKiller</a:t>
            </a:r>
            <a:r>
              <a:rPr lang="en"/>
              <a:t>_</a:t>
            </a:r>
            <a:r>
              <a:rPr lang="en">
                <a:highlight>
                  <a:srgbClr val="A4C2F4"/>
                </a:highlight>
              </a:rPr>
              <a:t>V3-4</a:t>
            </a:r>
            <a:r>
              <a:rPr lang="en"/>
              <a:t>.FBX</a:t>
            </a:r>
            <a:endParaRPr/>
          </a:p>
          <a:p>
            <a:pPr indent="0" lvl="0" marL="0" rtl="0" algn="l">
              <a:spcBef>
                <a:spcPts val="1200"/>
              </a:spcBef>
              <a:spcAft>
                <a:spcPts val="0"/>
              </a:spcAft>
              <a:buNone/>
            </a:pPr>
            <a:r>
              <a:rPr lang="en">
                <a:highlight>
                  <a:srgbClr val="EA9999"/>
                </a:highlight>
              </a:rPr>
              <a:t>SM</a:t>
            </a:r>
            <a:r>
              <a:rPr lang="en"/>
              <a:t>_</a:t>
            </a:r>
            <a:r>
              <a:rPr lang="en">
                <a:highlight>
                  <a:srgbClr val="B6D7A8"/>
                </a:highlight>
              </a:rPr>
              <a:t>MainDoor</a:t>
            </a:r>
            <a:r>
              <a:rPr lang="en"/>
              <a:t>_</a:t>
            </a:r>
            <a:r>
              <a:rPr lang="en">
                <a:highlight>
                  <a:srgbClr val="FFE599"/>
                </a:highlight>
              </a:rPr>
              <a:t>LVL1-HauntedHouse</a:t>
            </a:r>
            <a:r>
              <a:rPr lang="en"/>
              <a:t>_</a:t>
            </a:r>
            <a:r>
              <a:rPr lang="en">
                <a:highlight>
                  <a:srgbClr val="A4C2F4"/>
                </a:highlight>
              </a:rPr>
              <a:t>V2-5</a:t>
            </a:r>
            <a:r>
              <a:rPr lang="en"/>
              <a:t>.OBJ</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Asset Types Abbreviations</a:t>
            </a:r>
            <a:endParaRPr/>
          </a:p>
        </p:txBody>
      </p:sp>
      <p:sp>
        <p:nvSpPr>
          <p:cNvPr id="105" name="Google Shape;105;p16"/>
          <p:cNvSpPr txBox="1"/>
          <p:nvPr>
            <p:ph idx="1" type="body"/>
          </p:nvPr>
        </p:nvSpPr>
        <p:spPr>
          <a:xfrm>
            <a:off x="1978450" y="1979450"/>
            <a:ext cx="27609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Animation: ANIM_</a:t>
            </a:r>
            <a:endParaRPr/>
          </a:p>
          <a:p>
            <a:pPr indent="0" lvl="0" marL="0" rtl="0" algn="l">
              <a:spcBef>
                <a:spcPts val="1200"/>
              </a:spcBef>
              <a:spcAft>
                <a:spcPts val="0"/>
              </a:spcAft>
              <a:buNone/>
            </a:pPr>
            <a:r>
              <a:rPr lang="en"/>
              <a:t>Game Res: GR_</a:t>
            </a:r>
            <a:endParaRPr/>
          </a:p>
          <a:p>
            <a:pPr indent="0" lvl="0" marL="0" rtl="0" algn="l">
              <a:spcBef>
                <a:spcPts val="1200"/>
              </a:spcBef>
              <a:spcAft>
                <a:spcPts val="0"/>
              </a:spcAft>
              <a:buNone/>
            </a:pPr>
            <a:r>
              <a:rPr lang="en"/>
              <a:t>High Res: HR_</a:t>
            </a:r>
            <a:endParaRPr/>
          </a:p>
          <a:p>
            <a:pPr indent="0" lvl="0" marL="0" rtl="0" algn="l">
              <a:spcBef>
                <a:spcPts val="1200"/>
              </a:spcBef>
              <a:spcAft>
                <a:spcPts val="0"/>
              </a:spcAft>
              <a:buNone/>
            </a:pPr>
            <a:r>
              <a:rPr lang="en"/>
              <a:t>Static Mesh: SM_</a:t>
            </a:r>
            <a:endParaRPr/>
          </a:p>
          <a:p>
            <a:pPr indent="0" lvl="0" marL="0" rtl="0" algn="l">
              <a:spcBef>
                <a:spcPts val="1200"/>
              </a:spcBef>
              <a:spcAft>
                <a:spcPts val="0"/>
              </a:spcAft>
              <a:buNone/>
            </a:pPr>
            <a:r>
              <a:rPr lang="en"/>
              <a:t>Skeletal Mesh: SKM_</a:t>
            </a:r>
            <a:endParaRPr/>
          </a:p>
          <a:p>
            <a:pPr indent="0" lvl="0" marL="0" rtl="0" algn="l">
              <a:spcBef>
                <a:spcPts val="1200"/>
              </a:spcBef>
              <a:spcAft>
                <a:spcPts val="0"/>
              </a:spcAft>
              <a:buNone/>
            </a:pPr>
            <a:r>
              <a:rPr lang="en"/>
              <a:t>Textures: TXTR_</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06" name="Google Shape;106;p16"/>
          <p:cNvSpPr txBox="1"/>
          <p:nvPr>
            <p:ph idx="1" type="body"/>
          </p:nvPr>
        </p:nvSpPr>
        <p:spPr>
          <a:xfrm>
            <a:off x="4739350" y="1979450"/>
            <a:ext cx="2571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1408"/>
              <a:t>Menu Items: UI_</a:t>
            </a:r>
            <a:endParaRPr sz="1408"/>
          </a:p>
          <a:p>
            <a:pPr indent="0" lvl="0" marL="0" rtl="0" algn="l">
              <a:spcBef>
                <a:spcPts val="1200"/>
              </a:spcBef>
              <a:spcAft>
                <a:spcPts val="0"/>
              </a:spcAft>
              <a:buNone/>
            </a:pPr>
            <a:r>
              <a:rPr lang="en" sz="1408"/>
              <a:t>HUD elements: HUD_</a:t>
            </a:r>
            <a:endParaRPr sz="1408"/>
          </a:p>
          <a:p>
            <a:pPr indent="0" lvl="0" marL="0" rtl="0" algn="l">
              <a:spcBef>
                <a:spcPts val="1200"/>
              </a:spcBef>
              <a:spcAft>
                <a:spcPts val="0"/>
              </a:spcAft>
              <a:buNone/>
            </a:pPr>
            <a:r>
              <a:rPr lang="en" sz="1408"/>
              <a:t>Text: TXT_</a:t>
            </a:r>
            <a:endParaRPr sz="1408"/>
          </a:p>
          <a:p>
            <a:pPr indent="0" lvl="0" marL="0" rtl="0" algn="l">
              <a:spcBef>
                <a:spcPts val="1200"/>
              </a:spcBef>
              <a:spcAft>
                <a:spcPts val="0"/>
              </a:spcAft>
              <a:buNone/>
            </a:pPr>
            <a:r>
              <a:rPr lang="en" sz="1408"/>
              <a:t>Icons: IC_</a:t>
            </a:r>
            <a:endParaRPr sz="1408"/>
          </a:p>
          <a:p>
            <a:pPr indent="0" lvl="0" marL="0" rtl="0" algn="l">
              <a:spcBef>
                <a:spcPts val="1200"/>
              </a:spcBef>
              <a:spcAft>
                <a:spcPts val="0"/>
              </a:spcAft>
              <a:buNone/>
            </a:pPr>
            <a:r>
              <a:rPr lang="en" sz="1408"/>
              <a:t>Stats: STAT_</a:t>
            </a:r>
            <a:endParaRPr sz="1408"/>
          </a:p>
          <a:p>
            <a:pPr indent="0" lvl="0" marL="0" rtl="0" algn="l">
              <a:spcBef>
                <a:spcPts val="1200"/>
              </a:spcBef>
              <a:spcAft>
                <a:spcPts val="0"/>
              </a:spcAft>
              <a:buNone/>
            </a:pPr>
            <a:r>
              <a:rPr lang="en" sz="1408"/>
              <a:t>Level: LVL_</a:t>
            </a:r>
            <a:endParaRPr sz="1408"/>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Technical Aspects</a:t>
            </a:r>
            <a:endParaRPr/>
          </a:p>
        </p:txBody>
      </p:sp>
      <p:sp>
        <p:nvSpPr>
          <p:cNvPr id="112" name="Google Shape;112;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fontScale="92500" lnSpcReduction="20000"/>
          </a:bodyPr>
          <a:lstStyle/>
          <a:p>
            <a:pPr indent="-304958" lvl="0" marL="457200" rtl="0" algn="l">
              <a:spcBef>
                <a:spcPts val="0"/>
              </a:spcBef>
              <a:spcAft>
                <a:spcPts val="0"/>
              </a:spcAft>
              <a:buSzPct val="100000"/>
              <a:buChar char="●"/>
            </a:pPr>
            <a:r>
              <a:rPr lang="en"/>
              <a:t>Use .FBX for 3D skeletal mesh, .OBJ for static mesh, and .PNG for 2D.</a:t>
            </a:r>
            <a:endParaRPr/>
          </a:p>
          <a:p>
            <a:pPr indent="-293211" lvl="1" marL="914400" rtl="0" algn="l">
              <a:spcBef>
                <a:spcPts val="0"/>
              </a:spcBef>
              <a:spcAft>
                <a:spcPts val="0"/>
              </a:spcAft>
              <a:buSzPct val="100000"/>
              <a:buChar char="○"/>
            </a:pPr>
            <a:r>
              <a:rPr lang="en"/>
              <a:t>Pivot should be at origin</a:t>
            </a:r>
            <a:endParaRPr/>
          </a:p>
          <a:p>
            <a:pPr indent="-293211" lvl="1" marL="914400" rtl="0" algn="l">
              <a:spcBef>
                <a:spcPts val="0"/>
              </a:spcBef>
              <a:spcAft>
                <a:spcPts val="0"/>
              </a:spcAft>
              <a:buSzPct val="100000"/>
              <a:buChar char="○"/>
            </a:pPr>
            <a:r>
              <a:rPr lang="en"/>
              <a:t>Freeze transformations when applicable (static mesh).</a:t>
            </a:r>
            <a:endParaRPr/>
          </a:p>
          <a:p>
            <a:pPr indent="-304958" lvl="0" marL="457200" rtl="0" algn="l">
              <a:spcBef>
                <a:spcPts val="0"/>
              </a:spcBef>
              <a:spcAft>
                <a:spcPts val="0"/>
              </a:spcAft>
              <a:buSzPct val="100000"/>
              <a:buChar char="●"/>
            </a:pPr>
            <a:r>
              <a:rPr lang="en"/>
              <a:t>3D models that are animated should be closed mesh.</a:t>
            </a:r>
            <a:endParaRPr/>
          </a:p>
          <a:p>
            <a:pPr indent="-304958" lvl="0" marL="457200" rtl="0" algn="l">
              <a:spcBef>
                <a:spcPts val="0"/>
              </a:spcBef>
              <a:spcAft>
                <a:spcPts val="0"/>
              </a:spcAft>
              <a:buSzPct val="100000"/>
              <a:buChar char="●"/>
            </a:pPr>
            <a:r>
              <a:rPr lang="en"/>
              <a:t>Polygon Count:</a:t>
            </a:r>
            <a:endParaRPr/>
          </a:p>
          <a:p>
            <a:pPr indent="-293211" lvl="1" marL="914400" rtl="0" algn="l">
              <a:spcBef>
                <a:spcPts val="0"/>
              </a:spcBef>
              <a:spcAft>
                <a:spcPts val="0"/>
              </a:spcAft>
              <a:buSzPct val="100000"/>
              <a:buChar char="○"/>
            </a:pPr>
            <a:r>
              <a:rPr lang="en"/>
              <a:t>Player Character/Boss Characters: 10k-15k </a:t>
            </a:r>
            <a:endParaRPr/>
          </a:p>
          <a:p>
            <a:pPr indent="-293211" lvl="1" marL="914400" rtl="0" algn="l">
              <a:spcBef>
                <a:spcPts val="0"/>
              </a:spcBef>
              <a:spcAft>
                <a:spcPts val="0"/>
              </a:spcAft>
              <a:buSzPct val="100000"/>
              <a:buChar char="○"/>
            </a:pPr>
            <a:r>
              <a:rPr lang="en"/>
              <a:t>Mini Boss: 5k-10k</a:t>
            </a:r>
            <a:endParaRPr/>
          </a:p>
          <a:p>
            <a:pPr indent="-293211" lvl="1" marL="914400" rtl="0" algn="l">
              <a:spcBef>
                <a:spcPts val="0"/>
              </a:spcBef>
              <a:spcAft>
                <a:spcPts val="0"/>
              </a:spcAft>
              <a:buSzPct val="100000"/>
              <a:buChar char="○"/>
            </a:pPr>
            <a:r>
              <a:rPr lang="en"/>
              <a:t>Lesser enemies: 1k-5k</a:t>
            </a:r>
            <a:endParaRPr/>
          </a:p>
          <a:p>
            <a:pPr indent="-293211" lvl="1" marL="914400" rtl="0" algn="l">
              <a:spcBef>
                <a:spcPts val="0"/>
              </a:spcBef>
              <a:spcAft>
                <a:spcPts val="0"/>
              </a:spcAft>
              <a:buSzPct val="100000"/>
              <a:buChar char="○"/>
            </a:pPr>
            <a:r>
              <a:rPr lang="en"/>
              <a:t>Key items/Environment: 500-1k </a:t>
            </a:r>
            <a:endParaRPr/>
          </a:p>
          <a:p>
            <a:pPr indent="-293211" lvl="1" marL="914400" rtl="0" algn="l">
              <a:spcBef>
                <a:spcPts val="0"/>
              </a:spcBef>
              <a:spcAft>
                <a:spcPts val="0"/>
              </a:spcAft>
              <a:buSzPct val="100000"/>
              <a:buChar char="○"/>
            </a:pPr>
            <a:r>
              <a:rPr lang="en"/>
              <a:t>Non-key items/Environment: ~500</a:t>
            </a:r>
            <a:endParaRPr/>
          </a:p>
          <a:p>
            <a:pPr indent="-304958" lvl="0" marL="457200" rtl="0" algn="l">
              <a:spcBef>
                <a:spcPts val="0"/>
              </a:spcBef>
              <a:spcAft>
                <a:spcPts val="0"/>
              </a:spcAft>
              <a:buSzPct val="100000"/>
              <a:buChar char="●"/>
            </a:pPr>
            <a:r>
              <a:rPr lang="en"/>
              <a:t>Textures</a:t>
            </a:r>
            <a:endParaRPr/>
          </a:p>
          <a:p>
            <a:pPr indent="-293211" lvl="1" marL="914400" rtl="0" algn="l">
              <a:spcBef>
                <a:spcPts val="0"/>
              </a:spcBef>
              <a:spcAft>
                <a:spcPts val="0"/>
              </a:spcAft>
              <a:buSzPct val="100000"/>
              <a:buChar char="○"/>
            </a:pPr>
            <a:r>
              <a:rPr lang="en"/>
              <a:t>Textures are flat colors at the moment, so use a texture atlas.</a:t>
            </a:r>
            <a:endParaRPr/>
          </a:p>
          <a:p>
            <a:pPr indent="-293211" lvl="1" marL="914400" rtl="0" algn="l">
              <a:spcBef>
                <a:spcPts val="0"/>
              </a:spcBef>
              <a:spcAft>
                <a:spcPts val="0"/>
              </a:spcAft>
              <a:buSzPct val="100000"/>
              <a:buChar char="○"/>
            </a:pPr>
            <a:r>
              <a:rPr lang="en"/>
              <a:t>Textures can be 64x64</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